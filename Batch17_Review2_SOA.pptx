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57" r:id="rId3"/>
    <p:sldId id="903" r:id="rId4"/>
    <p:sldId id="260" r:id="rId5"/>
    <p:sldId id="908" r:id="rId6"/>
    <p:sldId id="906" r:id="rId7"/>
    <p:sldId id="904" r:id="rId8"/>
    <p:sldId id="910" r:id="rId9"/>
    <p:sldId id="905" r:id="rId10"/>
    <p:sldId id="909" r:id="rId11"/>
    <p:sldId id="9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3" autoAdjust="0"/>
    <p:restoredTop sz="94681"/>
  </p:normalViewPr>
  <p:slideViewPr>
    <p:cSldViewPr snapToGrid="0">
      <p:cViewPr varScale="1">
        <p:scale>
          <a:sx n="149" d="100"/>
          <a:sy n="149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22-09-26 / 1:20 pm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49529"/>
              </p:ext>
            </p:extLst>
          </p:nvPr>
        </p:nvGraphicFramePr>
        <p:xfrm>
          <a:off x="8193271" y="4537829"/>
          <a:ext cx="3702050" cy="1092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09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0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P.Sri</a:t>
                      </a:r>
                      <a:r>
                        <a:rPr lang="en-IN" sz="14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Maha Lakshmi – 2420030313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B.Nageshwari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2420030426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R.Ananya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- 2420030086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253746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Dr.Neelima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Gogineni</a:t>
                      </a:r>
                      <a:endParaRPr lang="en-US" sz="1400" b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 – 18/08/06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60516" y="57964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EventSync AI – Agentic Event Volunteer Coordination Platform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Coordinating volunteers for events is still largely manual, relying on spreadsheets, phone calls, and personal judgement to match people to tasks.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Organizers struggle to assign volunteers based on skills, availability, experience, and current workload, often leading to mismatched or overloaded volunteers.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When a volunteer becomes unavailable at short notice, finding and briefing a suitable replacement is slow and manual, creating gaps in event execution.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There is no unified system that intelligently allocates, monitors, and re-allocates volunteer tasks in real time.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101" name="Content Placeholder 100"/>
          <p:cNvSpPr txBox="1"/>
          <p:nvPr/>
        </p:nvSpPr>
        <p:spPr>
          <a:xfrm>
            <a:off x="923925" y="1550000"/>
            <a:ext cx="10344150" cy="4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Design and develop EventSync AI, a microservices-based Event Volunteer Management System (Event, Volunteer, Task/Assignment, and Notification services).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Build an AI Event Coordination Agent that assigns volunteers to tasks based on skills, availability, experience, and workload.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Enable dynamic AI-driven reassignment: detect volunteer unavailability, identify a suitable replacement, update the assignment, and trigger a notification.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Implement secure, scalable communication between services using REST APIs, Eureka service discovery, and Spring Cloud Gateway with JWT/RBAC-based access control.</a:t>
            </a:r>
          </a:p>
          <a:p>
            <a:pPr marL="285750" indent="-28575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000" dirty="0"/>
              <a:t>Support SDG 11 (Sustainable Cities and Communities) by improving the efficiency and reliability of community and civic event operations.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05106" y="406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102" name="Feasibility Content"/>
          <p:cNvSpPr txBox="1"/>
          <p:nvPr/>
        </p:nvSpPr>
        <p:spPr>
          <a:xfrm>
            <a:off x="923925" y="1067944"/>
            <a:ext cx="10344150" cy="23610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Technical feasibility: built entirely on established, freely available technologies – Java, Spring Boot, Spring Cloud, React, and PostgreSQL/MySQL – with strong community and documentation support.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Tooling feasibility: Postman Agent Mode and Semgrep support API testing and security scanning; GitHub Actions enables CI/CD; Jira supports sprint-based task tracking.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Team feasibility: the team is familiar with REST API design and microservices patterns, and uses AI-assisted development tools (ChatGPT/Gemini, GitHub Copilot, Lucidchart AI) to accelerate design and coding.</a:t>
            </a:r>
          </a:p>
          <a:p>
            <a:pPr marL="285750" indent="-285750">
              <a:spcAft>
                <a:spcPts val="800"/>
              </a:spcAft>
              <a:buFont typeface="Arial" pitchFamily="34" charset="0"/>
              <a:buChar char="•"/>
            </a:pPr>
            <a:r>
              <a:rPr lang="en-US" sz="1600" dirty="0"/>
              <a:t>Economic feasibility: relies on open-source frameworks and free-tier developer tools, keeping the project cost-effective for an academic setting.</a:t>
            </a:r>
          </a:p>
        </p:txBody>
      </p:sp>
      <p:sp>
        <p:nvSpPr>
          <p:cNvPr id="103" name="Timeline Title"/>
          <p:cNvSpPr txBox="1"/>
          <p:nvPr/>
        </p:nvSpPr>
        <p:spPr>
          <a:xfrm>
            <a:off x="923925" y="3524394"/>
            <a:ext cx="1034415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1800" b="1" dirty="0"/>
              <a:t>Proposed Project Timeline (Tentative)</a:t>
            </a:r>
          </a:p>
        </p:txBody>
      </p:sp>
      <p:graphicFrame>
        <p:nvGraphicFramePr>
          <p:cNvPr id="104" name="Timelin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09366"/>
              </p:ext>
            </p:extLst>
          </p:nvPr>
        </p:nvGraphicFramePr>
        <p:xfrm>
          <a:off x="923925" y="3874394"/>
          <a:ext cx="10344150" cy="28151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31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0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Activities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1. Requirements &amp;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Requirement analysis; SOA/microservices architecture design; UI/UX wireframes (Lucidchart AI)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2. Core Services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Event Service, Volunteer Service, Task/Assignment Service (Spring Boot, REST APIs)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3. AI Agent &amp; Notification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AI Coordination Agent (allocation, dynamic reassignment, workload balancing); Notification Service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5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4. Integration, Security &amp;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Eureka, Spring Cloud Gateway, JWT/RBAC, CORS; API testing (Postman Agent Mode); security scan (Semgrep)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5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5. Deployment &amp; Final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</a:rPr>
                        <a:t>CI/CD pipeline (GitHub Actions); deployment and final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48193D-726C-147E-6DEA-0A549295EF36}"/>
              </a:ext>
            </a:extLst>
          </p:cNvPr>
          <p:cNvSpPr/>
          <p:nvPr/>
        </p:nvSpPr>
        <p:spPr>
          <a:xfrm>
            <a:off x="594360" y="590765"/>
            <a:ext cx="10744200" cy="713232"/>
          </a:xfrm>
          <a:prstGeom prst="roundRect">
            <a:avLst/>
          </a:prstGeom>
          <a:solidFill>
            <a:srgbClr val="1275BE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51041-1694-3E8A-04F5-AE8DEDE12ABE}"/>
              </a:ext>
            </a:extLst>
          </p:cNvPr>
          <p:cNvSpPr txBox="1"/>
          <p:nvPr/>
        </p:nvSpPr>
        <p:spPr>
          <a:xfrm>
            <a:off x="685800" y="1716423"/>
            <a:ext cx="10561320" cy="470916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Requirement Analysis – identify organizer, volunteer and event-coordination requirements.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Service Design – define independent services and API contracts using SOA / microservices principles.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Volunteer &amp; Task Modeling – capture skills, availability, experience, workload and task requirements.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AI-Based Allocation – select suitable volunteers and balance workload using project/event data.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Dynamic Reassignment – detect unavailability, identify a replacement and update the assignment.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Integration &amp; Security – connect services using Eureka/Gateway and protect APIs with JWT/RBAC.</a:t>
            </a:r>
          </a:p>
          <a:p>
            <a:pPr>
              <a:spcAft>
                <a:spcPts val="1300"/>
              </a:spcAft>
              <a:defRPr sz="1720">
                <a:solidFill>
                  <a:srgbClr val="191919"/>
                </a:solidFill>
                <a:latin typeface="Aptos"/>
              </a:defRPr>
            </a:pPr>
            <a:r>
              <a:rPr dirty="0"/>
              <a:t>• Testing &amp; Evaluation – validate service workflows, API behavior and security controls.</a:t>
            </a:r>
          </a:p>
        </p:txBody>
      </p:sp>
      <p:pic>
        <p:nvPicPr>
          <p:cNvPr id="8" name="Picture 7" descr="image1.png">
            <a:extLst>
              <a:ext uri="{FF2B5EF4-FFF2-40B4-BE49-F238E27FC236}">
                <a16:creationId xmlns:a16="http://schemas.microsoft.com/office/drawing/2014/main" id="{244179A0-FE3E-5188-D1A1-2CC30891B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602" y="34620"/>
            <a:ext cx="1325880" cy="44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8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>
            <a:extLst>
              <a:ext uri="{FF2B5EF4-FFF2-40B4-BE49-F238E27FC236}">
                <a16:creationId xmlns:a16="http://schemas.microsoft.com/office/drawing/2014/main" id="{31DA801C-1742-F746-E021-3B60FE8F2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91440"/>
            <a:ext cx="1325880" cy="442823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5339D1-9041-3F7B-7768-E9B457FD419A}"/>
              </a:ext>
            </a:extLst>
          </p:cNvPr>
          <p:cNvSpPr/>
          <p:nvPr/>
        </p:nvSpPr>
        <p:spPr>
          <a:xfrm>
            <a:off x="543085" y="580581"/>
            <a:ext cx="10744200" cy="713232"/>
          </a:xfrm>
          <a:prstGeom prst="roundRect">
            <a:avLst/>
          </a:prstGeom>
          <a:solidFill>
            <a:srgbClr val="1275BE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F67696-2F94-9810-7FA1-E5FF62A72241}"/>
              </a:ext>
            </a:extLst>
          </p:cNvPr>
          <p:cNvSpPr/>
          <p:nvPr/>
        </p:nvSpPr>
        <p:spPr>
          <a:xfrm>
            <a:off x="822960" y="1668780"/>
            <a:ext cx="4206240" cy="502920"/>
          </a:xfrm>
          <a:prstGeom prst="roundRect">
            <a:avLst/>
          </a:prstGeom>
          <a:solidFill>
            <a:srgbClr val="E8F9F4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A68"/>
                </a:solidFill>
              </a:defRPr>
            </a:pPr>
            <a:r>
              <a:t>CONCLUSION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CB06FB-1860-9F1A-D939-DE74A731E58A}"/>
              </a:ext>
            </a:extLst>
          </p:cNvPr>
          <p:cNvSpPr/>
          <p:nvPr/>
        </p:nvSpPr>
        <p:spPr>
          <a:xfrm>
            <a:off x="7040880" y="1652523"/>
            <a:ext cx="3657600" cy="502920"/>
          </a:xfrm>
          <a:prstGeom prst="roundRect">
            <a:avLst/>
          </a:prstGeom>
          <a:solidFill>
            <a:srgbClr val="EFECFF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A68"/>
                </a:solidFill>
              </a:defRPr>
            </a:pPr>
            <a: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4220E-D841-67F2-4DF5-858E70B7448D}"/>
              </a:ext>
            </a:extLst>
          </p:cNvPr>
          <p:cNvSpPr txBox="1"/>
          <p:nvPr/>
        </p:nvSpPr>
        <p:spPr>
          <a:xfrm>
            <a:off x="822960" y="2526992"/>
            <a:ext cx="466344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EventSync</a:t>
            </a:r>
            <a:r>
              <a:rPr dirty="0"/>
              <a:t> AI addresses manual volunteer coordination through intelligent allocation and dynamic reassignment.</a:t>
            </a:r>
          </a:p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The SOA / microservices architecture separates responsibilities and supports scalable service integration.</a:t>
            </a:r>
          </a:p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AI-based workload and availability awareness is designed to improve assignment decisions during event operations.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6A8A0-7CF7-16FB-D929-30D9FA55424C}"/>
              </a:ext>
            </a:extLst>
          </p:cNvPr>
          <p:cNvSpPr txBox="1"/>
          <p:nvPr/>
        </p:nvSpPr>
        <p:spPr>
          <a:xfrm>
            <a:off x="7040880" y="2338984"/>
            <a:ext cx="365760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Improve matching using historical event and volunteer data.</a:t>
            </a:r>
          </a:p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Add richer workload and availability prediction.</a:t>
            </a:r>
          </a:p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Expand analytics, monitoring and automated notifications.</a:t>
            </a:r>
          </a:p>
          <a:p>
            <a:pPr>
              <a:spcAft>
                <a:spcPts val="13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Complete CI/CD and deployment integration for final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11242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818979-190A-9385-0C59-C08300848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827" y="435687"/>
            <a:ext cx="7530345" cy="59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6A8921-302E-5694-8DE9-C70C4E11B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4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46071A-476E-5CEE-67BC-19602EEE649E}"/>
              </a:ext>
            </a:extLst>
          </p:cNvPr>
          <p:cNvSpPr/>
          <p:nvPr/>
        </p:nvSpPr>
        <p:spPr>
          <a:xfrm>
            <a:off x="594360" y="274320"/>
            <a:ext cx="10972800" cy="713232"/>
          </a:xfrm>
          <a:prstGeom prst="roundRect">
            <a:avLst/>
          </a:prstGeom>
          <a:solidFill>
            <a:srgbClr val="1275BE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Technical Soundness of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2F5B5-A0E0-D0CF-552A-4172EB9E4074}"/>
              </a:ext>
            </a:extLst>
          </p:cNvPr>
          <p:cNvSpPr txBox="1"/>
          <p:nvPr/>
        </p:nvSpPr>
        <p:spPr>
          <a:xfrm>
            <a:off x="914400" y="1078992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Technology choices support a modular, secure and scalable SOA / Microservices platform.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CD1860-20D7-4623-BF7D-EE0FEB49EDCC}"/>
              </a:ext>
            </a:extLst>
          </p:cNvPr>
          <p:cNvSpPr/>
          <p:nvPr/>
        </p:nvSpPr>
        <p:spPr>
          <a:xfrm>
            <a:off x="685800" y="1600200"/>
            <a:ext cx="2971800" cy="1051560"/>
          </a:xfrm>
          <a:prstGeom prst="roundRect">
            <a:avLst/>
          </a:prstGeom>
          <a:solidFill>
            <a:srgbClr val="E8F4FD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Architecture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SOA + Microservices</a:t>
            </a:r>
            <a:br/>
            <a:r>
              <a:t>Independent Event, Volunteer, Task/Assignment and Notification services.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1715D-5183-FC8E-67C3-607504D247F8}"/>
              </a:ext>
            </a:extLst>
          </p:cNvPr>
          <p:cNvSpPr/>
          <p:nvPr/>
        </p:nvSpPr>
        <p:spPr>
          <a:xfrm>
            <a:off x="4160520" y="1600200"/>
            <a:ext cx="2971800" cy="1051560"/>
          </a:xfrm>
          <a:prstGeom prst="roundRect">
            <a:avLst/>
          </a:prstGeom>
          <a:solidFill>
            <a:srgbClr val="E8F9F4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Backend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Java + Spring Boot + Spring Cloud</a:t>
            </a:r>
            <a:br/>
            <a:r>
              <a:t>REST APIs provide service-to-service communication.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657309-3D53-4279-1D37-62D089482638}"/>
              </a:ext>
            </a:extLst>
          </p:cNvPr>
          <p:cNvSpPr/>
          <p:nvPr/>
        </p:nvSpPr>
        <p:spPr>
          <a:xfrm>
            <a:off x="7635240" y="1600200"/>
            <a:ext cx="2971800" cy="1051560"/>
          </a:xfrm>
          <a:prstGeom prst="roundRect">
            <a:avLst/>
          </a:prstGeom>
          <a:solidFill>
            <a:srgbClr val="EFECFF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Service Integration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Eureka Service Discovery + Spring Cloud Gateway</a:t>
            </a:r>
            <a:br/>
            <a:r>
              <a:t>Supports service registration and API routing.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0B60EE-A8D1-C984-CE3C-94053271DD54}"/>
              </a:ext>
            </a:extLst>
          </p:cNvPr>
          <p:cNvSpPr/>
          <p:nvPr/>
        </p:nvSpPr>
        <p:spPr>
          <a:xfrm>
            <a:off x="685800" y="2880360"/>
            <a:ext cx="2971800" cy="1051560"/>
          </a:xfrm>
          <a:prstGeom prst="roundRect">
            <a:avLst/>
          </a:prstGeom>
          <a:solidFill>
            <a:srgbClr val="FFF7E1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Security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JWT + RBAC + CORS</a:t>
            </a:r>
            <a:br/>
            <a:r>
              <a:t>Protects APIs and provides role-based access control.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95EF30-7E15-0FEA-3D38-240E97D8F2F4}"/>
              </a:ext>
            </a:extLst>
          </p:cNvPr>
          <p:cNvSpPr/>
          <p:nvPr/>
        </p:nvSpPr>
        <p:spPr>
          <a:xfrm>
            <a:off x="4160520" y="2880360"/>
            <a:ext cx="2971800" cy="1051560"/>
          </a:xfrm>
          <a:prstGeom prst="roundRect">
            <a:avLst/>
          </a:prstGeom>
          <a:solidFill>
            <a:srgbClr val="E8F4FD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Data Layer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PostgreSQL / MySQL</a:t>
            </a:r>
            <a:br/>
            <a:r>
              <a:t>Stores event, volunteer, task and assignment information.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759F1E-E358-232D-5C81-FAF72407A7E2}"/>
              </a:ext>
            </a:extLst>
          </p:cNvPr>
          <p:cNvSpPr/>
          <p:nvPr/>
        </p:nvSpPr>
        <p:spPr>
          <a:xfrm>
            <a:off x="7635240" y="2880360"/>
            <a:ext cx="2971800" cy="1051560"/>
          </a:xfrm>
          <a:prstGeom prst="roundRect">
            <a:avLst/>
          </a:prstGeom>
          <a:solidFill>
            <a:srgbClr val="E8F9F4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AI Layer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AI Coordination Agent</a:t>
            </a:r>
            <a:br/>
            <a:r>
              <a:t>Supports allocation, dynamic reassignment and workload balancing.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A871E0-5606-536F-566B-A1C74ADB0EB2}"/>
              </a:ext>
            </a:extLst>
          </p:cNvPr>
          <p:cNvSpPr/>
          <p:nvPr/>
        </p:nvSpPr>
        <p:spPr>
          <a:xfrm>
            <a:off x="2423160" y="4251960"/>
            <a:ext cx="2971800" cy="1051560"/>
          </a:xfrm>
          <a:prstGeom prst="roundRect">
            <a:avLst/>
          </a:prstGeom>
          <a:solidFill>
            <a:srgbClr val="EFECFF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Testing &amp; Security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Postman Agent Mode + Semgrep</a:t>
            </a:r>
            <a:br/>
            <a:r>
              <a:t>API testing and security scanning are included in the project plan.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596ABE4-186D-667B-A36F-3AA20E9200A0}"/>
              </a:ext>
            </a:extLst>
          </p:cNvPr>
          <p:cNvSpPr/>
          <p:nvPr/>
        </p:nvSpPr>
        <p:spPr>
          <a:xfrm>
            <a:off x="5897880" y="4251960"/>
            <a:ext cx="2971800" cy="1051560"/>
          </a:xfrm>
          <a:prstGeom prst="roundRect">
            <a:avLst/>
          </a:prstGeom>
          <a:solidFill>
            <a:srgbClr val="FFF7E1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F3A68"/>
                </a:solidFill>
              </a:defRPr>
            </a:pPr>
            <a:r>
              <a:t>DevOps / Tools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GitHub Actions + Jira</a:t>
            </a:r>
            <a:br/>
            <a:r>
              <a:t>CI/CD support and sprint-based project tracking.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D8926D-11B0-5EB1-67EB-F4E1DC804D80}"/>
              </a:ext>
            </a:extLst>
          </p:cNvPr>
          <p:cNvSpPr/>
          <p:nvPr/>
        </p:nvSpPr>
        <p:spPr>
          <a:xfrm>
            <a:off x="1005840" y="5715000"/>
            <a:ext cx="1014984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Feasibility: established, freely available technologies with strong community and documentation support.</a:t>
            </a:r>
          </a:p>
        </p:txBody>
      </p:sp>
    </p:spTree>
    <p:extLst>
      <p:ext uri="{BB962C8B-B14F-4D97-AF65-F5344CB8AC3E}">
        <p14:creationId xmlns:p14="http://schemas.microsoft.com/office/powerpoint/2010/main" val="7434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D4FBF-7FD8-82C8-B5AC-448A80F66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5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1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B1A7A47-0110-9193-1041-B3AEA7A7DF7E}"/>
              </a:ext>
            </a:extLst>
          </p:cNvPr>
          <p:cNvSpPr/>
          <p:nvPr/>
        </p:nvSpPr>
        <p:spPr>
          <a:xfrm>
            <a:off x="594360" y="274320"/>
            <a:ext cx="10972800" cy="713232"/>
          </a:xfrm>
          <a:prstGeom prst="roundRect">
            <a:avLst/>
          </a:prstGeom>
          <a:solidFill>
            <a:srgbClr val="1275BE"/>
          </a:solidFill>
          <a:ln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Major Modules of EventSync AI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AD04BE-2891-B168-E2FD-DF52573D4322}"/>
              </a:ext>
            </a:extLst>
          </p:cNvPr>
          <p:cNvSpPr/>
          <p:nvPr/>
        </p:nvSpPr>
        <p:spPr>
          <a:xfrm>
            <a:off x="4251960" y="2331720"/>
            <a:ext cx="3657600" cy="1143000"/>
          </a:xfrm>
          <a:prstGeom prst="roundRect">
            <a:avLst/>
          </a:prstGeom>
          <a:solidFill>
            <a:srgbClr val="EFECFF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F3A68"/>
                </a:solidFill>
              </a:defRPr>
            </a:pPr>
            <a:r>
              <a:t>AI COORDINATION AGENT</a:t>
            </a:r>
          </a:p>
          <a:p>
            <a:pPr algn="ctr">
              <a:defRPr sz="1150">
                <a:solidFill>
                  <a:srgbClr val="191919"/>
                </a:solidFill>
              </a:defRPr>
            </a:pPr>
            <a:r>
              <a:t>Intelligent allocation • Dynamic reassignment • Workload balancing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74EB5D-922E-69F1-0D4C-F2E30BB248A6}"/>
              </a:ext>
            </a:extLst>
          </p:cNvPr>
          <p:cNvSpPr/>
          <p:nvPr/>
        </p:nvSpPr>
        <p:spPr>
          <a:xfrm>
            <a:off x="640080" y="1417320"/>
            <a:ext cx="3063240" cy="960120"/>
          </a:xfrm>
          <a:prstGeom prst="roundRect">
            <a:avLst/>
          </a:prstGeom>
          <a:solidFill>
            <a:srgbClr val="E8F4FD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1. Event Management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Create and manage events, schedules and requirements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3E6299-AAF7-0B53-9AC4-14F182E1A74F}"/>
              </a:ext>
            </a:extLst>
          </p:cNvPr>
          <p:cNvSpPr/>
          <p:nvPr/>
        </p:nvSpPr>
        <p:spPr>
          <a:xfrm>
            <a:off x="640080" y="4069080"/>
            <a:ext cx="3063240" cy="960120"/>
          </a:xfrm>
          <a:prstGeom prst="roundRect">
            <a:avLst/>
          </a:prstGeom>
          <a:solidFill>
            <a:srgbClr val="E8F9F4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2. Volunteer Management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Manage profiles, skills, availability and workload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8CB04E-824E-B7A5-D654-1557CF5CD1B9}"/>
              </a:ext>
            </a:extLst>
          </p:cNvPr>
          <p:cNvSpPr/>
          <p:nvPr/>
        </p:nvSpPr>
        <p:spPr>
          <a:xfrm>
            <a:off x="8458200" y="1417320"/>
            <a:ext cx="3063240" cy="960120"/>
          </a:xfrm>
          <a:prstGeom prst="roundRect">
            <a:avLst/>
          </a:prstGeom>
          <a:solidFill>
            <a:srgbClr val="FFF7E1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3. Task &amp; Assignment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Create tasks and assign suitable volunteers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85E837-33DF-7554-1549-B7CC3487990A}"/>
              </a:ext>
            </a:extLst>
          </p:cNvPr>
          <p:cNvSpPr/>
          <p:nvPr/>
        </p:nvSpPr>
        <p:spPr>
          <a:xfrm>
            <a:off x="8458200" y="4069080"/>
            <a:ext cx="3063240" cy="960120"/>
          </a:xfrm>
          <a:prstGeom prst="roundRect">
            <a:avLst/>
          </a:prstGeom>
          <a:solidFill>
            <a:srgbClr val="EFECFF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4. Dynamic Reassignment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Detect unavailability and select a replacement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80A0A5-E9FA-29A9-CEA1-F92AEEBE3AE6}"/>
              </a:ext>
            </a:extLst>
          </p:cNvPr>
          <p:cNvSpPr/>
          <p:nvPr/>
        </p:nvSpPr>
        <p:spPr>
          <a:xfrm>
            <a:off x="4251960" y="4251960"/>
            <a:ext cx="3063240" cy="960120"/>
          </a:xfrm>
          <a:prstGeom prst="roundRect">
            <a:avLst/>
          </a:prstGeom>
          <a:solidFill>
            <a:srgbClr val="E8F4FD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5. Notification Service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Send assignment, reassignment and event alerts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F13845-48B3-EDC4-74FD-65F2B25D61B8}"/>
              </a:ext>
            </a:extLst>
          </p:cNvPr>
          <p:cNvSpPr/>
          <p:nvPr/>
        </p:nvSpPr>
        <p:spPr>
          <a:xfrm>
            <a:off x="640080" y="5486400"/>
            <a:ext cx="3063240" cy="960120"/>
          </a:xfrm>
          <a:prstGeom prst="roundRect">
            <a:avLst/>
          </a:prstGeom>
          <a:solidFill>
            <a:srgbClr val="E8F9F4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6. Authentication &amp; RBAC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Secure APIs with role-based access control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0F36C1-4C43-AD69-6AE3-A2D8C26746D6}"/>
              </a:ext>
            </a:extLst>
          </p:cNvPr>
          <p:cNvSpPr/>
          <p:nvPr/>
        </p:nvSpPr>
        <p:spPr>
          <a:xfrm>
            <a:off x="8458200" y="5486400"/>
            <a:ext cx="3063240" cy="960120"/>
          </a:xfrm>
          <a:prstGeom prst="roundRect">
            <a:avLst/>
          </a:prstGeom>
          <a:solidFill>
            <a:srgbClr val="FFF7E1"/>
          </a:solidFill>
          <a:ln>
            <a:solidFill>
              <a:srgbClr val="12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F3A68"/>
                </a:solidFill>
              </a:defRPr>
            </a:pPr>
            <a:r>
              <a:t>7. SOA / Microservices</a:t>
            </a:r>
          </a:p>
          <a:p>
            <a:pPr algn="ctr">
              <a:defRPr sz="1050">
                <a:solidFill>
                  <a:srgbClr val="191919"/>
                </a:solidFill>
              </a:defRPr>
            </a:pPr>
            <a:r>
              <a:t>Independent services connected through REST APIs</a:t>
            </a:r>
          </a:p>
        </p:txBody>
      </p:sp>
      <p:cxnSp>
        <p:nvCxnSpPr>
          <p:cNvPr id="13" name="Connector 10">
            <a:extLst>
              <a:ext uri="{FF2B5EF4-FFF2-40B4-BE49-F238E27FC236}">
                <a16:creationId xmlns:a16="http://schemas.microsoft.com/office/drawing/2014/main" id="{041B41B3-9F5D-0BE4-FA2C-C8B5B2AD8D26}"/>
              </a:ext>
            </a:extLst>
          </p:cNvPr>
          <p:cNvCxnSpPr/>
          <p:nvPr/>
        </p:nvCxnSpPr>
        <p:spPr>
          <a:xfrm>
            <a:off x="3703320" y="1901952"/>
            <a:ext cx="548640" cy="795528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1">
            <a:extLst>
              <a:ext uri="{FF2B5EF4-FFF2-40B4-BE49-F238E27FC236}">
                <a16:creationId xmlns:a16="http://schemas.microsoft.com/office/drawing/2014/main" id="{38E2DB16-8A81-6B5C-9DC0-16F46BAC3AC8}"/>
              </a:ext>
            </a:extLst>
          </p:cNvPr>
          <p:cNvCxnSpPr/>
          <p:nvPr/>
        </p:nvCxnSpPr>
        <p:spPr>
          <a:xfrm flipV="1">
            <a:off x="3703320" y="3063240"/>
            <a:ext cx="548640" cy="1490472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2">
            <a:extLst>
              <a:ext uri="{FF2B5EF4-FFF2-40B4-BE49-F238E27FC236}">
                <a16:creationId xmlns:a16="http://schemas.microsoft.com/office/drawing/2014/main" id="{3201D7B6-77C5-088B-50DD-1A3D05F7C18D}"/>
              </a:ext>
            </a:extLst>
          </p:cNvPr>
          <p:cNvCxnSpPr/>
          <p:nvPr/>
        </p:nvCxnSpPr>
        <p:spPr>
          <a:xfrm flipH="1">
            <a:off x="7909560" y="1901952"/>
            <a:ext cx="548640" cy="795528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3">
            <a:extLst>
              <a:ext uri="{FF2B5EF4-FFF2-40B4-BE49-F238E27FC236}">
                <a16:creationId xmlns:a16="http://schemas.microsoft.com/office/drawing/2014/main" id="{C12E71A0-5A76-564F-4870-F397CDB11E0E}"/>
              </a:ext>
            </a:extLst>
          </p:cNvPr>
          <p:cNvCxnSpPr/>
          <p:nvPr/>
        </p:nvCxnSpPr>
        <p:spPr>
          <a:xfrm flipH="1" flipV="1">
            <a:off x="7909560" y="3063240"/>
            <a:ext cx="548640" cy="1490472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4">
            <a:extLst>
              <a:ext uri="{FF2B5EF4-FFF2-40B4-BE49-F238E27FC236}">
                <a16:creationId xmlns:a16="http://schemas.microsoft.com/office/drawing/2014/main" id="{A331EBEA-8CDB-D9F9-2927-92D017AA6AB1}"/>
              </a:ext>
            </a:extLst>
          </p:cNvPr>
          <p:cNvCxnSpPr/>
          <p:nvPr/>
        </p:nvCxnSpPr>
        <p:spPr>
          <a:xfrm flipV="1">
            <a:off x="6080760" y="3474720"/>
            <a:ext cx="0" cy="777240"/>
          </a:xfrm>
          <a:prstGeom prst="line">
            <a:avLst/>
          </a:prstGeom>
          <a:ln w="25400">
            <a:solidFill>
              <a:srgbClr val="1F3A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AE7B08F-03E6-D62F-4D44-7B3D4689FA1E}"/>
              </a:ext>
            </a:extLst>
          </p:cNvPr>
          <p:cNvSpPr txBox="1"/>
          <p:nvPr/>
        </p:nvSpPr>
        <p:spPr>
          <a:xfrm>
            <a:off x="1920240" y="6355080"/>
            <a:ext cx="8412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3A68"/>
                </a:solidFill>
              </a:defRPr>
            </a:pPr>
            <a:r>
              <a:t>All modules integrate through the SOA / Microservices architecture.</a:t>
            </a:r>
          </a:p>
        </p:txBody>
      </p:sp>
    </p:spTree>
    <p:extLst>
      <p:ext uri="{BB962C8B-B14F-4D97-AF65-F5344CB8AC3E}">
        <p14:creationId xmlns:p14="http://schemas.microsoft.com/office/powerpoint/2010/main" val="425253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>
            <a:extLst>
              <a:ext uri="{FF2B5EF4-FFF2-40B4-BE49-F238E27FC236}">
                <a16:creationId xmlns:a16="http://schemas.microsoft.com/office/drawing/2014/main" id="{13FA4F4C-04D6-2815-88D8-AABD0BC88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91440"/>
            <a:ext cx="1325880" cy="4428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9E96C1-CED3-32D6-50FD-4FD0BE35EB7A}"/>
              </a:ext>
            </a:extLst>
          </p:cNvPr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275BE"/>
                </a:solidFill>
              </a:defRPr>
            </a:pPr>
            <a: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E385B-D753-C387-D1EA-D3475704EF14}"/>
              </a:ext>
            </a:extLst>
          </p:cNvPr>
          <p:cNvSpPr txBox="1"/>
          <p:nvPr/>
        </p:nvSpPr>
        <p:spPr>
          <a:xfrm>
            <a:off x="1828800" y="347472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F3A68"/>
                </a:solidFill>
              </a:defRPr>
            </a:pPr>
            <a:r>
              <a:t>EventSync AI – Agentic Event Volunteer Coordination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B9DC7-C9AC-3849-2ACF-5C20E724246B}"/>
              </a:ext>
            </a:extLst>
          </p:cNvPr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E6E6E"/>
                </a:solidFill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1058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1007</Words>
  <Application>Microsoft Macintosh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BINGI NAGESHWARI 2420030426</cp:lastModifiedBy>
  <cp:revision>39</cp:revision>
  <dcterms:created xsi:type="dcterms:W3CDTF">2026-08-08T06:33:56Z</dcterms:created>
  <dcterms:modified xsi:type="dcterms:W3CDTF">2026-09-22T06:58:14Z</dcterms:modified>
</cp:coreProperties>
</file>